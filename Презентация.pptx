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8"/>
  </p:notesMasterIdLst>
  <p:sldIdLst>
    <p:sldId id="257" r:id="rId2"/>
    <p:sldId id="259" r:id="rId3"/>
    <p:sldId id="260" r:id="rId4"/>
    <p:sldId id="283" r:id="rId5"/>
    <p:sldId id="284" r:id="rId6"/>
    <p:sldId id="285" r:id="rId7"/>
  </p:sldIdLst>
  <p:sldSz cx="12192000" cy="6858000"/>
  <p:notesSz cx="6858000" cy="9144000"/>
  <p:embeddedFontLst>
    <p:embeddedFont>
      <p:font typeface="IBM Plex Mono" charset="-52"/>
      <p:regular r:id="rId9"/>
      <p:bold r:id="rId10"/>
      <p:italic r:id="rId11"/>
      <p:boldItalic r:id="rId12"/>
    </p:embeddedFont>
    <p:embeddedFont>
      <p:font typeface="Abril Fatface" charset="0"/>
      <p:regular r:id="rId13"/>
    </p:embeddedFont>
    <p:embeddedFont>
      <p:font typeface="IBM Plex Mono Medium" charset="-52"/>
      <p:regular r:id="rId14"/>
      <p:bold r:id="rId15"/>
      <p:italic r:id="rId16"/>
      <p:boldItalic r:id="rId17"/>
    </p:embeddedFont>
    <p:embeddedFont>
      <p:font typeface="Bahnschrift SemiBold" pitchFamily="34" charset="0"/>
      <p:bold r:id="rId18"/>
    </p:embeddedFont>
    <p:embeddedFont>
      <p:font typeface="Barlow Condensed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>
        <p:scale>
          <a:sx n="72" d="100"/>
          <a:sy n="72" d="100"/>
        </p:scale>
        <p:origin x="-941" y="-33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9722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CUSTOM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5060405" y="1583975"/>
            <a:ext cx="63348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body" idx="1"/>
          </p:nvPr>
        </p:nvSpPr>
        <p:spPr>
          <a:xfrm>
            <a:off x="5060375" y="2988275"/>
            <a:ext cx="63348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886023" y="564982"/>
            <a:ext cx="389400" cy="3894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0" dist="76200" sx="114000" sy="114000" algn="ctr" rotWithShape="0">
              <a:schemeClr val="accent1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02331" y="954366"/>
            <a:ext cx="389400" cy="3894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0" dist="76200" sx="114000" sy="114000" algn="ctr" rotWithShape="0">
              <a:schemeClr val="accent1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4" descr="Power outline"/>
          <p:cNvGrpSpPr/>
          <p:nvPr/>
        </p:nvGrpSpPr>
        <p:grpSpPr>
          <a:xfrm>
            <a:off x="128945" y="182605"/>
            <a:ext cx="573391" cy="636955"/>
            <a:chOff x="5753006" y="3038475"/>
            <a:chExt cx="685957" cy="761999"/>
          </a:xfrm>
        </p:grpSpPr>
        <p:sp>
          <p:nvSpPr>
            <p:cNvPr id="77" name="Google Shape;77;p4"/>
            <p:cNvSpPr/>
            <p:nvPr/>
          </p:nvSpPr>
          <p:spPr>
            <a:xfrm>
              <a:off x="5753006" y="3176139"/>
              <a:ext cx="685957" cy="624335"/>
            </a:xfrm>
            <a:custGeom>
              <a:avLst/>
              <a:gdLst/>
              <a:ahLst/>
              <a:cxnLst/>
              <a:rect l="l" t="t" r="r" b="b"/>
              <a:pathLst>
                <a:path w="685957" h="624335" extrusionOk="0">
                  <a:moveTo>
                    <a:pt x="342994" y="624335"/>
                  </a:moveTo>
                  <a:cubicBezTo>
                    <a:pt x="532372" y="624370"/>
                    <a:pt x="685922" y="470877"/>
                    <a:pt x="685957" y="281498"/>
                  </a:cubicBezTo>
                  <a:cubicBezTo>
                    <a:pt x="685977" y="169262"/>
                    <a:pt x="631070" y="64119"/>
                    <a:pt x="538951" y="0"/>
                  </a:cubicBezTo>
                  <a:lnTo>
                    <a:pt x="528045" y="15631"/>
                  </a:lnTo>
                  <a:cubicBezTo>
                    <a:pt x="674827" y="117832"/>
                    <a:pt x="710966" y="319672"/>
                    <a:pt x="608766" y="466455"/>
                  </a:cubicBezTo>
                  <a:cubicBezTo>
                    <a:pt x="506564" y="613236"/>
                    <a:pt x="304724" y="649375"/>
                    <a:pt x="157942" y="547174"/>
                  </a:cubicBezTo>
                  <a:cubicBezTo>
                    <a:pt x="11160" y="444973"/>
                    <a:pt x="-24980" y="243132"/>
                    <a:pt x="77221" y="96351"/>
                  </a:cubicBezTo>
                  <a:cubicBezTo>
                    <a:pt x="99136" y="64877"/>
                    <a:pt x="126467" y="37546"/>
                    <a:pt x="157942" y="15631"/>
                  </a:cubicBezTo>
                  <a:lnTo>
                    <a:pt x="147036" y="0"/>
                  </a:lnTo>
                  <a:cubicBezTo>
                    <a:pt x="-8397" y="108190"/>
                    <a:pt x="-46694" y="321897"/>
                    <a:pt x="61496" y="477330"/>
                  </a:cubicBezTo>
                  <a:cubicBezTo>
                    <a:pt x="125615" y="569448"/>
                    <a:pt x="230757" y="624356"/>
                    <a:pt x="342994" y="6243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6086475" y="3038475"/>
              <a:ext cx="19050" cy="419100"/>
            </a:xfrm>
            <a:custGeom>
              <a:avLst/>
              <a:gdLst/>
              <a:ahLst/>
              <a:cxnLst/>
              <a:rect l="l" t="t" r="r" b="b"/>
              <a:pathLst>
                <a:path w="19050" h="419100" extrusionOk="0">
                  <a:moveTo>
                    <a:pt x="0" y="0"/>
                  </a:moveTo>
                  <a:lnTo>
                    <a:pt x="19050" y="0"/>
                  </a:lnTo>
                  <a:lnTo>
                    <a:pt x="19050" y="419100"/>
                  </a:lnTo>
                  <a:lnTo>
                    <a:pt x="0" y="41910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4"/>
          <p:cNvGrpSpPr/>
          <p:nvPr/>
        </p:nvGrpSpPr>
        <p:grpSpPr>
          <a:xfrm>
            <a:off x="11546587" y="307924"/>
            <a:ext cx="416899" cy="386303"/>
            <a:chOff x="7467602" y="5857077"/>
            <a:chExt cx="468900" cy="434488"/>
          </a:xfrm>
        </p:grpSpPr>
        <p:sp>
          <p:nvSpPr>
            <p:cNvPr id="80" name="Google Shape;80;p4"/>
            <p:cNvSpPr/>
            <p:nvPr/>
          </p:nvSpPr>
          <p:spPr>
            <a:xfrm>
              <a:off x="7467602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7767486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7472518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7772402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4"/>
          <p:cNvGrpSpPr/>
          <p:nvPr/>
        </p:nvGrpSpPr>
        <p:grpSpPr>
          <a:xfrm>
            <a:off x="1004793" y="371775"/>
            <a:ext cx="1098953" cy="258600"/>
            <a:chOff x="4317443" y="530413"/>
            <a:chExt cx="1098953" cy="258600"/>
          </a:xfrm>
        </p:grpSpPr>
        <p:sp>
          <p:nvSpPr>
            <p:cNvPr id="85" name="Google Shape;85;p4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4"/>
          <p:cNvGrpSpPr/>
          <p:nvPr/>
        </p:nvGrpSpPr>
        <p:grpSpPr>
          <a:xfrm>
            <a:off x="10672139" y="6271009"/>
            <a:ext cx="1098953" cy="258600"/>
            <a:chOff x="4317443" y="530413"/>
            <a:chExt cx="1098953" cy="258600"/>
          </a:xfrm>
        </p:grpSpPr>
        <p:sp>
          <p:nvSpPr>
            <p:cNvPr id="90" name="Google Shape;90;p4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4"/>
          <p:cNvGrpSpPr/>
          <p:nvPr/>
        </p:nvGrpSpPr>
        <p:grpSpPr>
          <a:xfrm>
            <a:off x="207182" y="1425244"/>
            <a:ext cx="416899" cy="386303"/>
            <a:chOff x="7467602" y="5857077"/>
            <a:chExt cx="468900" cy="434488"/>
          </a:xfrm>
        </p:grpSpPr>
        <p:sp>
          <p:nvSpPr>
            <p:cNvPr id="95" name="Google Shape;95;p4"/>
            <p:cNvSpPr/>
            <p:nvPr/>
          </p:nvSpPr>
          <p:spPr>
            <a:xfrm>
              <a:off x="7467602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7767486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7472518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7772402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4"/>
          <p:cNvGrpSpPr/>
          <p:nvPr/>
        </p:nvGrpSpPr>
        <p:grpSpPr>
          <a:xfrm flipH="1">
            <a:off x="9573193" y="273100"/>
            <a:ext cx="1098953" cy="258600"/>
            <a:chOff x="4317443" y="530413"/>
            <a:chExt cx="1098953" cy="258600"/>
          </a:xfrm>
        </p:grpSpPr>
        <p:sp>
          <p:nvSpPr>
            <p:cNvPr id="100" name="Google Shape;100;p4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4" descr="Power outline"/>
          <p:cNvGrpSpPr/>
          <p:nvPr/>
        </p:nvGrpSpPr>
        <p:grpSpPr>
          <a:xfrm>
            <a:off x="11395145" y="5376580"/>
            <a:ext cx="573391" cy="636955"/>
            <a:chOff x="5753006" y="3038475"/>
            <a:chExt cx="685957" cy="761999"/>
          </a:xfrm>
        </p:grpSpPr>
        <p:sp>
          <p:nvSpPr>
            <p:cNvPr id="105" name="Google Shape;105;p4"/>
            <p:cNvSpPr/>
            <p:nvPr/>
          </p:nvSpPr>
          <p:spPr>
            <a:xfrm>
              <a:off x="5753006" y="3176139"/>
              <a:ext cx="685957" cy="624335"/>
            </a:xfrm>
            <a:custGeom>
              <a:avLst/>
              <a:gdLst/>
              <a:ahLst/>
              <a:cxnLst/>
              <a:rect l="l" t="t" r="r" b="b"/>
              <a:pathLst>
                <a:path w="685957" h="624335" extrusionOk="0">
                  <a:moveTo>
                    <a:pt x="342994" y="624335"/>
                  </a:moveTo>
                  <a:cubicBezTo>
                    <a:pt x="532372" y="624370"/>
                    <a:pt x="685922" y="470877"/>
                    <a:pt x="685957" y="281498"/>
                  </a:cubicBezTo>
                  <a:cubicBezTo>
                    <a:pt x="685977" y="169262"/>
                    <a:pt x="631070" y="64119"/>
                    <a:pt x="538951" y="0"/>
                  </a:cubicBezTo>
                  <a:lnTo>
                    <a:pt x="528045" y="15631"/>
                  </a:lnTo>
                  <a:cubicBezTo>
                    <a:pt x="674827" y="117832"/>
                    <a:pt x="710966" y="319672"/>
                    <a:pt x="608766" y="466455"/>
                  </a:cubicBezTo>
                  <a:cubicBezTo>
                    <a:pt x="506564" y="613236"/>
                    <a:pt x="304724" y="649375"/>
                    <a:pt x="157942" y="547174"/>
                  </a:cubicBezTo>
                  <a:cubicBezTo>
                    <a:pt x="11160" y="444973"/>
                    <a:pt x="-24980" y="243132"/>
                    <a:pt x="77221" y="96351"/>
                  </a:cubicBezTo>
                  <a:cubicBezTo>
                    <a:pt x="99136" y="64877"/>
                    <a:pt x="126467" y="37546"/>
                    <a:pt x="157942" y="15631"/>
                  </a:cubicBezTo>
                  <a:lnTo>
                    <a:pt x="147036" y="0"/>
                  </a:lnTo>
                  <a:cubicBezTo>
                    <a:pt x="-8397" y="108190"/>
                    <a:pt x="-46694" y="321897"/>
                    <a:pt x="61496" y="477330"/>
                  </a:cubicBezTo>
                  <a:cubicBezTo>
                    <a:pt x="125615" y="569448"/>
                    <a:pt x="230757" y="624356"/>
                    <a:pt x="342994" y="6243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6086475" y="3038475"/>
              <a:ext cx="19050" cy="419100"/>
            </a:xfrm>
            <a:custGeom>
              <a:avLst/>
              <a:gdLst/>
              <a:ahLst/>
              <a:cxnLst/>
              <a:rect l="l" t="t" r="r" b="b"/>
              <a:pathLst>
                <a:path w="19050" h="419100" extrusionOk="0">
                  <a:moveTo>
                    <a:pt x="0" y="0"/>
                  </a:moveTo>
                  <a:lnTo>
                    <a:pt x="19050" y="0"/>
                  </a:lnTo>
                  <a:lnTo>
                    <a:pt x="19050" y="419100"/>
                  </a:lnTo>
                  <a:lnTo>
                    <a:pt x="0" y="41910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body" idx="1"/>
          </p:nvPr>
        </p:nvSpPr>
        <p:spPr>
          <a:xfrm>
            <a:off x="1471050" y="4204525"/>
            <a:ext cx="10305300" cy="152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1471050" y="2041175"/>
            <a:ext cx="10305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grpSp>
        <p:nvGrpSpPr>
          <p:cNvPr id="153" name="Google Shape;153;p6"/>
          <p:cNvGrpSpPr/>
          <p:nvPr/>
        </p:nvGrpSpPr>
        <p:grpSpPr>
          <a:xfrm>
            <a:off x="436707" y="6133406"/>
            <a:ext cx="416899" cy="386303"/>
            <a:chOff x="7467602" y="5857077"/>
            <a:chExt cx="468900" cy="434488"/>
          </a:xfrm>
        </p:grpSpPr>
        <p:sp>
          <p:nvSpPr>
            <p:cNvPr id="154" name="Google Shape;154;p6"/>
            <p:cNvSpPr/>
            <p:nvPr/>
          </p:nvSpPr>
          <p:spPr>
            <a:xfrm>
              <a:off x="7467602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7767486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7472518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7772402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6"/>
          <p:cNvGrpSpPr/>
          <p:nvPr/>
        </p:nvGrpSpPr>
        <p:grpSpPr>
          <a:xfrm>
            <a:off x="2755589" y="6133409"/>
            <a:ext cx="1098953" cy="258600"/>
            <a:chOff x="4317443" y="530413"/>
            <a:chExt cx="1098953" cy="258600"/>
          </a:xfrm>
        </p:grpSpPr>
        <p:sp>
          <p:nvSpPr>
            <p:cNvPr id="159" name="Google Shape;159;p6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6"/>
          <p:cNvGrpSpPr/>
          <p:nvPr/>
        </p:nvGrpSpPr>
        <p:grpSpPr>
          <a:xfrm>
            <a:off x="10764123" y="6313843"/>
            <a:ext cx="1098953" cy="258600"/>
            <a:chOff x="4317443" y="530413"/>
            <a:chExt cx="1098953" cy="258600"/>
          </a:xfrm>
        </p:grpSpPr>
        <p:sp>
          <p:nvSpPr>
            <p:cNvPr id="164" name="Google Shape;164;p6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6"/>
          <p:cNvGrpSpPr/>
          <p:nvPr/>
        </p:nvGrpSpPr>
        <p:grpSpPr>
          <a:xfrm flipH="1">
            <a:off x="5844968" y="630375"/>
            <a:ext cx="1098953" cy="258600"/>
            <a:chOff x="4317443" y="530413"/>
            <a:chExt cx="1098953" cy="258600"/>
          </a:xfrm>
        </p:grpSpPr>
        <p:sp>
          <p:nvSpPr>
            <p:cNvPr id="169" name="Google Shape;169;p6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6"/>
          <p:cNvSpPr/>
          <p:nvPr/>
        </p:nvSpPr>
        <p:spPr>
          <a:xfrm flipH="1">
            <a:off x="11005750" y="954366"/>
            <a:ext cx="389400" cy="3894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0" dist="76200" sx="114000" sy="114000" algn="ctr" rotWithShape="0">
              <a:schemeClr val="accent1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6" descr="Power outline"/>
          <p:cNvGrpSpPr/>
          <p:nvPr/>
        </p:nvGrpSpPr>
        <p:grpSpPr>
          <a:xfrm flipH="1">
            <a:off x="11395145" y="182605"/>
            <a:ext cx="573391" cy="636955"/>
            <a:chOff x="5753006" y="3038475"/>
            <a:chExt cx="685957" cy="761999"/>
          </a:xfrm>
        </p:grpSpPr>
        <p:sp>
          <p:nvSpPr>
            <p:cNvPr id="175" name="Google Shape;175;p6"/>
            <p:cNvSpPr/>
            <p:nvPr/>
          </p:nvSpPr>
          <p:spPr>
            <a:xfrm>
              <a:off x="5753006" y="3176139"/>
              <a:ext cx="685957" cy="624335"/>
            </a:xfrm>
            <a:custGeom>
              <a:avLst/>
              <a:gdLst/>
              <a:ahLst/>
              <a:cxnLst/>
              <a:rect l="l" t="t" r="r" b="b"/>
              <a:pathLst>
                <a:path w="685957" h="624335" extrusionOk="0">
                  <a:moveTo>
                    <a:pt x="342994" y="624335"/>
                  </a:moveTo>
                  <a:cubicBezTo>
                    <a:pt x="532372" y="624370"/>
                    <a:pt x="685922" y="470877"/>
                    <a:pt x="685957" y="281498"/>
                  </a:cubicBezTo>
                  <a:cubicBezTo>
                    <a:pt x="685977" y="169262"/>
                    <a:pt x="631070" y="64119"/>
                    <a:pt x="538951" y="0"/>
                  </a:cubicBezTo>
                  <a:lnTo>
                    <a:pt x="528045" y="15631"/>
                  </a:lnTo>
                  <a:cubicBezTo>
                    <a:pt x="674827" y="117832"/>
                    <a:pt x="710966" y="319672"/>
                    <a:pt x="608766" y="466455"/>
                  </a:cubicBezTo>
                  <a:cubicBezTo>
                    <a:pt x="506564" y="613236"/>
                    <a:pt x="304724" y="649375"/>
                    <a:pt x="157942" y="547174"/>
                  </a:cubicBezTo>
                  <a:cubicBezTo>
                    <a:pt x="11160" y="444973"/>
                    <a:pt x="-24980" y="243132"/>
                    <a:pt x="77221" y="96351"/>
                  </a:cubicBezTo>
                  <a:cubicBezTo>
                    <a:pt x="99136" y="64877"/>
                    <a:pt x="126467" y="37546"/>
                    <a:pt x="157942" y="15631"/>
                  </a:cubicBezTo>
                  <a:lnTo>
                    <a:pt x="147036" y="0"/>
                  </a:lnTo>
                  <a:cubicBezTo>
                    <a:pt x="-8397" y="108190"/>
                    <a:pt x="-46694" y="321897"/>
                    <a:pt x="61496" y="477330"/>
                  </a:cubicBezTo>
                  <a:cubicBezTo>
                    <a:pt x="125615" y="569448"/>
                    <a:pt x="230757" y="624356"/>
                    <a:pt x="342994" y="6243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6086475" y="3038475"/>
              <a:ext cx="19050" cy="419100"/>
            </a:xfrm>
            <a:custGeom>
              <a:avLst/>
              <a:gdLst/>
              <a:ahLst/>
              <a:cxnLst/>
              <a:rect l="l" t="t" r="r" b="b"/>
              <a:pathLst>
                <a:path w="19050" h="419100" extrusionOk="0">
                  <a:moveTo>
                    <a:pt x="0" y="0"/>
                  </a:moveTo>
                  <a:lnTo>
                    <a:pt x="19050" y="0"/>
                  </a:lnTo>
                  <a:lnTo>
                    <a:pt x="19050" y="419100"/>
                  </a:lnTo>
                  <a:lnTo>
                    <a:pt x="0" y="41910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6"/>
          <p:cNvGrpSpPr/>
          <p:nvPr/>
        </p:nvGrpSpPr>
        <p:grpSpPr>
          <a:xfrm flipH="1">
            <a:off x="9993735" y="371775"/>
            <a:ext cx="1098953" cy="258600"/>
            <a:chOff x="4317443" y="530413"/>
            <a:chExt cx="1098953" cy="258600"/>
          </a:xfrm>
        </p:grpSpPr>
        <p:sp>
          <p:nvSpPr>
            <p:cNvPr id="178" name="Google Shape;178;p6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 flipH="1">
            <a:off x="11473400" y="1425244"/>
            <a:ext cx="416899" cy="386303"/>
            <a:chOff x="7467602" y="5857077"/>
            <a:chExt cx="468900" cy="434488"/>
          </a:xfrm>
        </p:grpSpPr>
        <p:sp>
          <p:nvSpPr>
            <p:cNvPr id="183" name="Google Shape;183;p6"/>
            <p:cNvSpPr/>
            <p:nvPr/>
          </p:nvSpPr>
          <p:spPr>
            <a:xfrm>
              <a:off x="7467602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7767486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7472518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7772402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6"/>
          <p:cNvSpPr/>
          <p:nvPr/>
        </p:nvSpPr>
        <p:spPr>
          <a:xfrm>
            <a:off x="320231" y="1811541"/>
            <a:ext cx="389400" cy="3894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0" dist="76200" sx="114000" sy="114000" algn="ctr" rotWithShape="0">
              <a:schemeClr val="accen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6" descr="Power outline"/>
          <p:cNvGrpSpPr/>
          <p:nvPr/>
        </p:nvGrpSpPr>
        <p:grpSpPr>
          <a:xfrm>
            <a:off x="320221" y="204309"/>
            <a:ext cx="1099109" cy="1220951"/>
            <a:chOff x="5753006" y="3038475"/>
            <a:chExt cx="685957" cy="761999"/>
          </a:xfrm>
        </p:grpSpPr>
        <p:sp>
          <p:nvSpPr>
            <p:cNvPr id="189" name="Google Shape;189;p6"/>
            <p:cNvSpPr/>
            <p:nvPr/>
          </p:nvSpPr>
          <p:spPr>
            <a:xfrm>
              <a:off x="5753006" y="3176139"/>
              <a:ext cx="685957" cy="624335"/>
            </a:xfrm>
            <a:custGeom>
              <a:avLst/>
              <a:gdLst/>
              <a:ahLst/>
              <a:cxnLst/>
              <a:rect l="l" t="t" r="r" b="b"/>
              <a:pathLst>
                <a:path w="685957" h="624335" extrusionOk="0">
                  <a:moveTo>
                    <a:pt x="342994" y="624335"/>
                  </a:moveTo>
                  <a:cubicBezTo>
                    <a:pt x="532372" y="624370"/>
                    <a:pt x="685922" y="470877"/>
                    <a:pt x="685957" y="281498"/>
                  </a:cubicBezTo>
                  <a:cubicBezTo>
                    <a:pt x="685977" y="169262"/>
                    <a:pt x="631070" y="64119"/>
                    <a:pt x="538951" y="0"/>
                  </a:cubicBezTo>
                  <a:lnTo>
                    <a:pt x="528045" y="15631"/>
                  </a:lnTo>
                  <a:cubicBezTo>
                    <a:pt x="674827" y="117832"/>
                    <a:pt x="710966" y="319672"/>
                    <a:pt x="608766" y="466455"/>
                  </a:cubicBezTo>
                  <a:cubicBezTo>
                    <a:pt x="506564" y="613236"/>
                    <a:pt x="304724" y="649375"/>
                    <a:pt x="157942" y="547174"/>
                  </a:cubicBezTo>
                  <a:cubicBezTo>
                    <a:pt x="11160" y="444973"/>
                    <a:pt x="-24980" y="243132"/>
                    <a:pt x="77221" y="96351"/>
                  </a:cubicBezTo>
                  <a:cubicBezTo>
                    <a:pt x="99136" y="64877"/>
                    <a:pt x="126467" y="37546"/>
                    <a:pt x="157942" y="15631"/>
                  </a:cubicBezTo>
                  <a:lnTo>
                    <a:pt x="147036" y="0"/>
                  </a:lnTo>
                  <a:cubicBezTo>
                    <a:pt x="-8397" y="108190"/>
                    <a:pt x="-46694" y="321897"/>
                    <a:pt x="61496" y="477330"/>
                  </a:cubicBezTo>
                  <a:cubicBezTo>
                    <a:pt x="125615" y="569448"/>
                    <a:pt x="230757" y="624356"/>
                    <a:pt x="342994" y="624335"/>
                  </a:cubicBezTo>
                  <a:close/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086475" y="3038475"/>
              <a:ext cx="19050" cy="419100"/>
            </a:xfrm>
            <a:custGeom>
              <a:avLst/>
              <a:gdLst/>
              <a:ahLst/>
              <a:cxnLst/>
              <a:rect l="l" t="t" r="r" b="b"/>
              <a:pathLst>
                <a:path w="19050" h="419100" extrusionOk="0">
                  <a:moveTo>
                    <a:pt x="0" y="0"/>
                  </a:moveTo>
                  <a:lnTo>
                    <a:pt x="19050" y="0"/>
                  </a:lnTo>
                  <a:lnTo>
                    <a:pt x="1905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6"/>
          <p:cNvGrpSpPr/>
          <p:nvPr/>
        </p:nvGrpSpPr>
        <p:grpSpPr>
          <a:xfrm>
            <a:off x="2519443" y="307925"/>
            <a:ext cx="1098953" cy="258600"/>
            <a:chOff x="4317443" y="530413"/>
            <a:chExt cx="1098953" cy="258600"/>
          </a:xfrm>
        </p:grpSpPr>
        <p:sp>
          <p:nvSpPr>
            <p:cNvPr id="192" name="Google Shape;192;p6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6"/>
          <p:cNvGrpSpPr/>
          <p:nvPr/>
        </p:nvGrpSpPr>
        <p:grpSpPr>
          <a:xfrm>
            <a:off x="1696694" y="307919"/>
            <a:ext cx="416899" cy="386303"/>
            <a:chOff x="7467602" y="5857077"/>
            <a:chExt cx="468900" cy="434488"/>
          </a:xfrm>
        </p:grpSpPr>
        <p:sp>
          <p:nvSpPr>
            <p:cNvPr id="197" name="Google Shape;197;p6"/>
            <p:cNvSpPr/>
            <p:nvPr/>
          </p:nvSpPr>
          <p:spPr>
            <a:xfrm>
              <a:off x="7467602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7767486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7472518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7772402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>
            <a:spLocks noGrp="1"/>
          </p:cNvSpPr>
          <p:nvPr>
            <p:ph type="subTitle" idx="1"/>
          </p:nvPr>
        </p:nvSpPr>
        <p:spPr>
          <a:xfrm>
            <a:off x="1529538" y="2176575"/>
            <a:ext cx="69519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24" name="Google Shape;224;p8"/>
          <p:cNvSpPr txBox="1">
            <a:spLocks noGrp="1"/>
          </p:cNvSpPr>
          <p:nvPr>
            <p:ph type="title"/>
          </p:nvPr>
        </p:nvSpPr>
        <p:spPr>
          <a:xfrm>
            <a:off x="1482400" y="745775"/>
            <a:ext cx="69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body" idx="2"/>
          </p:nvPr>
        </p:nvSpPr>
        <p:spPr>
          <a:xfrm>
            <a:off x="1529540" y="2836750"/>
            <a:ext cx="69519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0886023" y="564982"/>
            <a:ext cx="389400" cy="3894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0" dist="76200" sx="114000" sy="114000" algn="ctr" rotWithShape="0">
              <a:schemeClr val="accent1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02331" y="954366"/>
            <a:ext cx="389400" cy="3894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0" dist="76200" sx="114000" sy="114000" algn="ctr" rotWithShape="0">
              <a:schemeClr val="accent1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8" descr="Power outline"/>
          <p:cNvGrpSpPr/>
          <p:nvPr/>
        </p:nvGrpSpPr>
        <p:grpSpPr>
          <a:xfrm>
            <a:off x="128945" y="182605"/>
            <a:ext cx="573391" cy="636955"/>
            <a:chOff x="5753006" y="3038475"/>
            <a:chExt cx="685957" cy="761999"/>
          </a:xfrm>
        </p:grpSpPr>
        <p:sp>
          <p:nvSpPr>
            <p:cNvPr id="229" name="Google Shape;229;p8"/>
            <p:cNvSpPr/>
            <p:nvPr/>
          </p:nvSpPr>
          <p:spPr>
            <a:xfrm>
              <a:off x="5753006" y="3176139"/>
              <a:ext cx="685957" cy="624335"/>
            </a:xfrm>
            <a:custGeom>
              <a:avLst/>
              <a:gdLst/>
              <a:ahLst/>
              <a:cxnLst/>
              <a:rect l="l" t="t" r="r" b="b"/>
              <a:pathLst>
                <a:path w="685957" h="624335" extrusionOk="0">
                  <a:moveTo>
                    <a:pt x="342994" y="624335"/>
                  </a:moveTo>
                  <a:cubicBezTo>
                    <a:pt x="532372" y="624370"/>
                    <a:pt x="685922" y="470877"/>
                    <a:pt x="685957" y="281498"/>
                  </a:cubicBezTo>
                  <a:cubicBezTo>
                    <a:pt x="685977" y="169262"/>
                    <a:pt x="631070" y="64119"/>
                    <a:pt x="538951" y="0"/>
                  </a:cubicBezTo>
                  <a:lnTo>
                    <a:pt x="528045" y="15631"/>
                  </a:lnTo>
                  <a:cubicBezTo>
                    <a:pt x="674827" y="117832"/>
                    <a:pt x="710966" y="319672"/>
                    <a:pt x="608766" y="466455"/>
                  </a:cubicBezTo>
                  <a:cubicBezTo>
                    <a:pt x="506564" y="613236"/>
                    <a:pt x="304724" y="649375"/>
                    <a:pt x="157942" y="547174"/>
                  </a:cubicBezTo>
                  <a:cubicBezTo>
                    <a:pt x="11160" y="444973"/>
                    <a:pt x="-24980" y="243132"/>
                    <a:pt x="77221" y="96351"/>
                  </a:cubicBezTo>
                  <a:cubicBezTo>
                    <a:pt x="99136" y="64877"/>
                    <a:pt x="126467" y="37546"/>
                    <a:pt x="157942" y="15631"/>
                  </a:cubicBezTo>
                  <a:lnTo>
                    <a:pt x="147036" y="0"/>
                  </a:lnTo>
                  <a:cubicBezTo>
                    <a:pt x="-8397" y="108190"/>
                    <a:pt x="-46694" y="321897"/>
                    <a:pt x="61496" y="477330"/>
                  </a:cubicBezTo>
                  <a:cubicBezTo>
                    <a:pt x="125615" y="569448"/>
                    <a:pt x="230757" y="624356"/>
                    <a:pt x="342994" y="6243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6086475" y="3038475"/>
              <a:ext cx="19050" cy="419100"/>
            </a:xfrm>
            <a:custGeom>
              <a:avLst/>
              <a:gdLst/>
              <a:ahLst/>
              <a:cxnLst/>
              <a:rect l="l" t="t" r="r" b="b"/>
              <a:pathLst>
                <a:path w="19050" h="419100" extrusionOk="0">
                  <a:moveTo>
                    <a:pt x="0" y="0"/>
                  </a:moveTo>
                  <a:lnTo>
                    <a:pt x="19050" y="0"/>
                  </a:lnTo>
                  <a:lnTo>
                    <a:pt x="19050" y="419100"/>
                  </a:lnTo>
                  <a:lnTo>
                    <a:pt x="0" y="41910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8"/>
          <p:cNvGrpSpPr/>
          <p:nvPr/>
        </p:nvGrpSpPr>
        <p:grpSpPr>
          <a:xfrm>
            <a:off x="11546587" y="307924"/>
            <a:ext cx="416899" cy="386303"/>
            <a:chOff x="7467602" y="5857077"/>
            <a:chExt cx="468900" cy="434488"/>
          </a:xfrm>
        </p:grpSpPr>
        <p:sp>
          <p:nvSpPr>
            <p:cNvPr id="232" name="Google Shape;232;p8"/>
            <p:cNvSpPr/>
            <p:nvPr/>
          </p:nvSpPr>
          <p:spPr>
            <a:xfrm>
              <a:off x="7467602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7767486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7472518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7772402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8"/>
          <p:cNvGrpSpPr/>
          <p:nvPr/>
        </p:nvGrpSpPr>
        <p:grpSpPr>
          <a:xfrm>
            <a:off x="1004793" y="371775"/>
            <a:ext cx="1098953" cy="258600"/>
            <a:chOff x="4317443" y="530413"/>
            <a:chExt cx="1098953" cy="258600"/>
          </a:xfrm>
        </p:grpSpPr>
        <p:sp>
          <p:nvSpPr>
            <p:cNvPr id="237" name="Google Shape;237;p8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8"/>
          <p:cNvGrpSpPr/>
          <p:nvPr/>
        </p:nvGrpSpPr>
        <p:grpSpPr>
          <a:xfrm>
            <a:off x="10672139" y="6271009"/>
            <a:ext cx="1098953" cy="258600"/>
            <a:chOff x="4317443" y="530413"/>
            <a:chExt cx="1098953" cy="258600"/>
          </a:xfrm>
        </p:grpSpPr>
        <p:sp>
          <p:nvSpPr>
            <p:cNvPr id="242" name="Google Shape;242;p8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8"/>
          <p:cNvGrpSpPr/>
          <p:nvPr/>
        </p:nvGrpSpPr>
        <p:grpSpPr>
          <a:xfrm>
            <a:off x="207182" y="1425244"/>
            <a:ext cx="416899" cy="386303"/>
            <a:chOff x="7467602" y="5857077"/>
            <a:chExt cx="468900" cy="434488"/>
          </a:xfrm>
        </p:grpSpPr>
        <p:sp>
          <p:nvSpPr>
            <p:cNvPr id="247" name="Google Shape;247;p8"/>
            <p:cNvSpPr/>
            <p:nvPr/>
          </p:nvSpPr>
          <p:spPr>
            <a:xfrm>
              <a:off x="7467602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7767486" y="5857077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7472518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7772402" y="6127465"/>
              <a:ext cx="164100" cy="1641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8"/>
          <p:cNvGrpSpPr/>
          <p:nvPr/>
        </p:nvGrpSpPr>
        <p:grpSpPr>
          <a:xfrm flipH="1">
            <a:off x="9573193" y="273100"/>
            <a:ext cx="1098953" cy="258600"/>
            <a:chOff x="4317443" y="530413"/>
            <a:chExt cx="1098953" cy="258600"/>
          </a:xfrm>
        </p:grpSpPr>
        <p:sp>
          <p:nvSpPr>
            <p:cNvPr id="252" name="Google Shape;252;p8"/>
            <p:cNvSpPr/>
            <p:nvPr/>
          </p:nvSpPr>
          <p:spPr>
            <a:xfrm rot="5400000">
              <a:off x="4299593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 rot="5400000">
              <a:off x="4591611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 rot="5400000">
              <a:off x="4883629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 rot="5400000">
              <a:off x="5175645" y="548263"/>
              <a:ext cx="258600" cy="22290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2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8" descr="Power outline"/>
          <p:cNvGrpSpPr/>
          <p:nvPr/>
        </p:nvGrpSpPr>
        <p:grpSpPr>
          <a:xfrm>
            <a:off x="11395145" y="5376580"/>
            <a:ext cx="573391" cy="636955"/>
            <a:chOff x="5753006" y="3038475"/>
            <a:chExt cx="685957" cy="761999"/>
          </a:xfrm>
        </p:grpSpPr>
        <p:sp>
          <p:nvSpPr>
            <p:cNvPr id="257" name="Google Shape;257;p8"/>
            <p:cNvSpPr/>
            <p:nvPr/>
          </p:nvSpPr>
          <p:spPr>
            <a:xfrm>
              <a:off x="5753006" y="3176139"/>
              <a:ext cx="685957" cy="624335"/>
            </a:xfrm>
            <a:custGeom>
              <a:avLst/>
              <a:gdLst/>
              <a:ahLst/>
              <a:cxnLst/>
              <a:rect l="l" t="t" r="r" b="b"/>
              <a:pathLst>
                <a:path w="685957" h="624335" extrusionOk="0">
                  <a:moveTo>
                    <a:pt x="342994" y="624335"/>
                  </a:moveTo>
                  <a:cubicBezTo>
                    <a:pt x="532372" y="624370"/>
                    <a:pt x="685922" y="470877"/>
                    <a:pt x="685957" y="281498"/>
                  </a:cubicBezTo>
                  <a:cubicBezTo>
                    <a:pt x="685977" y="169262"/>
                    <a:pt x="631070" y="64119"/>
                    <a:pt x="538951" y="0"/>
                  </a:cubicBezTo>
                  <a:lnTo>
                    <a:pt x="528045" y="15631"/>
                  </a:lnTo>
                  <a:cubicBezTo>
                    <a:pt x="674827" y="117832"/>
                    <a:pt x="710966" y="319672"/>
                    <a:pt x="608766" y="466455"/>
                  </a:cubicBezTo>
                  <a:cubicBezTo>
                    <a:pt x="506564" y="613236"/>
                    <a:pt x="304724" y="649375"/>
                    <a:pt x="157942" y="547174"/>
                  </a:cubicBezTo>
                  <a:cubicBezTo>
                    <a:pt x="11160" y="444973"/>
                    <a:pt x="-24980" y="243132"/>
                    <a:pt x="77221" y="96351"/>
                  </a:cubicBezTo>
                  <a:cubicBezTo>
                    <a:pt x="99136" y="64877"/>
                    <a:pt x="126467" y="37546"/>
                    <a:pt x="157942" y="15631"/>
                  </a:cubicBezTo>
                  <a:lnTo>
                    <a:pt x="147036" y="0"/>
                  </a:lnTo>
                  <a:cubicBezTo>
                    <a:pt x="-8397" y="108190"/>
                    <a:pt x="-46694" y="321897"/>
                    <a:pt x="61496" y="477330"/>
                  </a:cubicBezTo>
                  <a:cubicBezTo>
                    <a:pt x="125615" y="569448"/>
                    <a:pt x="230757" y="624356"/>
                    <a:pt x="342994" y="6243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6086475" y="3038475"/>
              <a:ext cx="19050" cy="419100"/>
            </a:xfrm>
            <a:custGeom>
              <a:avLst/>
              <a:gdLst/>
              <a:ahLst/>
              <a:cxnLst/>
              <a:rect l="l" t="t" r="r" b="b"/>
              <a:pathLst>
                <a:path w="19050" h="419100" extrusionOk="0">
                  <a:moveTo>
                    <a:pt x="0" y="0"/>
                  </a:moveTo>
                  <a:lnTo>
                    <a:pt x="19050" y="0"/>
                  </a:lnTo>
                  <a:lnTo>
                    <a:pt x="19050" y="419100"/>
                  </a:lnTo>
                  <a:lnTo>
                    <a:pt x="0" y="41910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0" dist="76200" sx="114000" sy="114000" algn="ctr" rotWithShape="0">
                <a:schemeClr val="accent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3"/>
            </a:gs>
            <a:gs pos="71000">
              <a:schemeClr val="accent4"/>
            </a:gs>
            <a:gs pos="79000">
              <a:schemeClr val="accent4"/>
            </a:gs>
            <a:gs pos="100000">
              <a:schemeClr val="accent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  <a:effectLst>
            <a:outerShdw blurRad="271463" dist="47625" dir="10500000" algn="bl" rotWithShape="0">
              <a:schemeClr val="accent2"/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Mono"/>
              <a:buNone/>
              <a:defRPr sz="4000" b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●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○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■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●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○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■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●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BM Plex Mono Medium"/>
              <a:buChar char="○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1"/>
              </a:buClr>
              <a:buSzPts val="1900"/>
              <a:buFont typeface="IBM Plex Mono Medium"/>
              <a:buChar char="■"/>
              <a:defRPr sz="1900">
                <a:solidFill>
                  <a:schemeClr val="lt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 rot="5400000">
            <a:off x="-679350" y="63509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1100852"/>
            <a:ext cx="5722675" cy="5757150"/>
          </a:xfrm>
          <a:prstGeom prst="rect">
            <a:avLst/>
          </a:prstGeom>
          <a:noFill/>
          <a:ln>
            <a:noFill/>
          </a:ln>
          <a:effectLst>
            <a:outerShdw blurRad="471488" dist="19050" dir="5400000" algn="bl" rotWithShape="0">
              <a:schemeClr val="accent1"/>
            </a:outerShdw>
          </a:effectLst>
        </p:spPr>
      </p:pic>
      <p:sp>
        <p:nvSpPr>
          <p:cNvPr id="671" name="Google Shape;671;p23"/>
          <p:cNvSpPr txBox="1">
            <a:spLocks noGrp="1"/>
          </p:cNvSpPr>
          <p:nvPr>
            <p:ph type="title"/>
          </p:nvPr>
        </p:nvSpPr>
        <p:spPr>
          <a:xfrm>
            <a:off x="5722675" y="1793768"/>
            <a:ext cx="6408300" cy="99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4000" dirty="0"/>
              <a:t>Интеллектуальная система поддержки принятия решений в организационных системах</a:t>
            </a:r>
            <a:endParaRPr sz="4000" dirty="0"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FEC0C688-AD70-468D-8C5B-B7FC821E23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056" y="53682"/>
            <a:ext cx="1440161" cy="1059688"/>
          </a:xfrm>
          <a:prstGeom prst="rect">
            <a:avLst/>
          </a:prstGeom>
          <a:noFill/>
          <a:ln>
            <a:noFill/>
          </a:ln>
          <a:effectLst>
            <a:outerShdw blurRad="471488" dist="19050" dir="5400000" algn="bl" rotWithShape="0">
              <a:schemeClr val="accent2"/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2C18C58-115A-415B-89B9-98B4C742463A}"/>
              </a:ext>
            </a:extLst>
          </p:cNvPr>
          <p:cNvSpPr txBox="1"/>
          <p:nvPr/>
        </p:nvSpPr>
        <p:spPr>
          <a:xfrm>
            <a:off x="6655507" y="5364539"/>
            <a:ext cx="4121086" cy="782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Clr>
                <a:schemeClr val="lt1"/>
              </a:buClr>
              <a:buSzPts val="1900"/>
            </a:pPr>
            <a:r>
              <a:rPr lang="ru-RU" sz="2000" dirty="0" smtClean="0">
                <a:solidFill>
                  <a:schemeClr val="bg1"/>
                </a:solidFill>
              </a:rPr>
              <a:t/>
            </a:r>
            <a:br>
              <a:rPr lang="ru-RU" sz="2000" dirty="0" smtClean="0">
                <a:solidFill>
                  <a:schemeClr val="bg1"/>
                </a:solidFill>
              </a:rPr>
            </a:br>
            <a:endParaRPr lang="ru-RU" sz="1900" dirty="0">
              <a:solidFill>
                <a:schemeClr val="bg1"/>
              </a:solidFill>
              <a:latin typeface="IBM Plex Mono Medium"/>
              <a:sym typeface="IBM Plex Mono Medium"/>
            </a:endParaRPr>
          </a:p>
        </p:txBody>
      </p:sp>
      <p:sp>
        <p:nvSpPr>
          <p:cNvPr id="10" name="Google Shape;700;p26">
            <a:extLst>
              <a:ext uri="{FF2B5EF4-FFF2-40B4-BE49-F238E27FC236}">
                <a16:creationId xmlns="" xmlns:a16="http://schemas.microsoft.com/office/drawing/2014/main" id="{9A7D674E-BCCE-46C3-8D02-0E46491448D6}"/>
              </a:ext>
            </a:extLst>
          </p:cNvPr>
          <p:cNvSpPr txBox="1">
            <a:spLocks/>
          </p:cNvSpPr>
          <p:nvPr/>
        </p:nvSpPr>
        <p:spPr>
          <a:xfrm>
            <a:off x="5240100" y="201776"/>
            <a:ext cx="6951900" cy="763500"/>
          </a:xfrm>
          <a:prstGeom prst="rect">
            <a:avLst/>
          </a:prstGeom>
          <a:noFill/>
          <a:ln>
            <a:noFill/>
          </a:ln>
          <a:effectLst>
            <a:outerShdw blurRad="271463" dist="47625" dir="10500000" algn="bl" rotWithShape="0">
              <a:schemeClr val="accent2"/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 b="1" i="0" u="none" strike="noStrike" cap="non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>
              <a:lnSpc>
                <a:spcPct val="115000"/>
              </a:lnSpc>
              <a:buClr>
                <a:schemeClr val="lt1"/>
              </a:buClr>
              <a:buSzPts val="1900"/>
            </a:pPr>
            <a:r>
              <a:rPr lang="ru-RU" sz="1800" dirty="0">
                <a:solidFill>
                  <a:schemeClr val="lt1"/>
                </a:solidFill>
                <a:latin typeface="IBM Plex Mono Medium"/>
                <a:sym typeface="IBM Plex Mono Medium"/>
              </a:rPr>
              <a:t>ЮЖНЫЙ УНИВЕРСИТЕТ (</a:t>
            </a:r>
            <a:r>
              <a:rPr lang="ru-RU" sz="1800" dirty="0" err="1">
                <a:solidFill>
                  <a:schemeClr val="lt1"/>
                </a:solidFill>
                <a:latin typeface="IBM Plex Mono Medium"/>
                <a:sym typeface="IBM Plex Mono Medium"/>
              </a:rPr>
              <a:t>ИУБиП</a:t>
            </a:r>
            <a:r>
              <a:rPr lang="ru-RU" sz="1800" dirty="0">
                <a:solidFill>
                  <a:schemeClr val="lt1"/>
                </a:solidFill>
                <a:latin typeface="IBM Plex Mono Medium"/>
                <a:sym typeface="IBM Plex Mono Medium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5"/>
          <p:cNvSpPr txBox="1">
            <a:spLocks noGrp="1"/>
          </p:cNvSpPr>
          <p:nvPr>
            <p:ph type="body" idx="1"/>
          </p:nvPr>
        </p:nvSpPr>
        <p:spPr>
          <a:xfrm>
            <a:off x="939421" y="2340788"/>
            <a:ext cx="5876049" cy="35602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b="1" dirty="0">
                <a:latin typeface="+mn-lt"/>
              </a:rPr>
              <a:t>Цель</a:t>
            </a:r>
            <a:r>
              <a:rPr lang="ru-RU" dirty="0">
                <a:latin typeface="+mn-lt"/>
              </a:rPr>
              <a:t>: Анализ и визуализация данных для поддержки принятия решений.</a:t>
            </a:r>
          </a:p>
          <a:p>
            <a:r>
              <a:rPr lang="ru-RU" b="1" dirty="0">
                <a:latin typeface="+mn-lt"/>
              </a:rPr>
              <a:t>Основные </a:t>
            </a:r>
            <a:r>
              <a:rPr lang="ru-RU" b="1" dirty="0" smtClean="0">
                <a:latin typeface="+mn-lt"/>
              </a:rPr>
              <a:t>компоненты</a:t>
            </a:r>
            <a:r>
              <a:rPr lang="ru-RU" dirty="0" smtClean="0">
                <a:latin typeface="+mn-lt"/>
              </a:rPr>
              <a:t>:</a:t>
            </a:r>
            <a:br>
              <a:rPr lang="ru-RU" dirty="0" smtClean="0">
                <a:latin typeface="+mn-lt"/>
              </a:rPr>
            </a:br>
            <a:r>
              <a:rPr lang="ru-RU" dirty="0" smtClean="0">
                <a:latin typeface="+mn-lt"/>
              </a:rPr>
              <a:t>-Управление </a:t>
            </a:r>
            <a:r>
              <a:rPr lang="ru-RU" dirty="0">
                <a:latin typeface="+mn-lt"/>
              </a:rPr>
              <a:t>информационными объектами, показателями и </a:t>
            </a:r>
            <a:r>
              <a:rPr lang="ru-RU" dirty="0" smtClean="0">
                <a:latin typeface="+mn-lt"/>
              </a:rPr>
              <a:t>категориями.</a:t>
            </a:r>
            <a:br>
              <a:rPr lang="ru-RU" dirty="0" smtClean="0">
                <a:latin typeface="+mn-lt"/>
              </a:rPr>
            </a:br>
            <a:r>
              <a:rPr lang="ru-RU" dirty="0" smtClean="0">
                <a:latin typeface="+mn-lt"/>
              </a:rPr>
              <a:t>-Визуализация </a:t>
            </a:r>
            <a:r>
              <a:rPr lang="ru-RU" dirty="0">
                <a:latin typeface="+mn-lt"/>
              </a:rPr>
              <a:t>данных (</a:t>
            </a:r>
            <a:r>
              <a:rPr lang="ru-RU" dirty="0" err="1">
                <a:latin typeface="+mn-lt"/>
              </a:rPr>
              <a:t>остовное</a:t>
            </a:r>
            <a:r>
              <a:rPr lang="ru-RU" dirty="0">
                <a:latin typeface="+mn-lt"/>
              </a:rPr>
              <a:t> дерево, </a:t>
            </a:r>
            <a:r>
              <a:rPr lang="ru-RU" dirty="0" err="1">
                <a:latin typeface="+mn-lt"/>
              </a:rPr>
              <a:t>дендрограмма</a:t>
            </a:r>
            <a:r>
              <a:rPr lang="ru-RU" dirty="0" smtClean="0">
                <a:latin typeface="+mn-lt"/>
              </a:rPr>
              <a:t>).</a:t>
            </a:r>
            <a:br>
              <a:rPr lang="ru-RU" dirty="0" smtClean="0">
                <a:latin typeface="+mn-lt"/>
              </a:rPr>
            </a:br>
            <a:r>
              <a:rPr lang="ru-RU" dirty="0" smtClean="0">
                <a:latin typeface="+mn-lt"/>
              </a:rPr>
              <a:t>-Генерация </a:t>
            </a:r>
            <a:r>
              <a:rPr lang="ru-RU" dirty="0">
                <a:latin typeface="+mn-lt"/>
              </a:rPr>
              <a:t>отчетов.</a:t>
            </a:r>
          </a:p>
          <a:p>
            <a:r>
              <a:rPr lang="ru-RU" b="1" dirty="0">
                <a:latin typeface="+mn-lt"/>
              </a:rPr>
              <a:t>Целевая аудитория</a:t>
            </a:r>
            <a:r>
              <a:rPr lang="ru-RU" dirty="0">
                <a:latin typeface="+mn-lt"/>
              </a:rPr>
              <a:t>: Преподаватели, аналитики, менеджеры.</a:t>
            </a:r>
          </a:p>
          <a:p>
            <a:pPr marL="107950" indent="0">
              <a:buNone/>
            </a:pPr>
            <a:r>
              <a:rPr lang="ru-RU" dirty="0" smtClean="0">
                <a:latin typeface="+mn-lt"/>
                <a:cs typeface="Arial" pitchFamily="34" charset="0"/>
              </a:rPr>
              <a:t/>
            </a:r>
            <a:br>
              <a:rPr lang="ru-RU" dirty="0" smtClean="0">
                <a:latin typeface="+mn-lt"/>
                <a:cs typeface="Arial" pitchFamily="34" charset="0"/>
              </a:rPr>
            </a:br>
            <a:r>
              <a:rPr lang="ru-RU" dirty="0" smtClean="0">
                <a:latin typeface="+mn-lt"/>
              </a:rPr>
              <a:t/>
            </a:r>
            <a:br>
              <a:rPr lang="ru-RU" dirty="0" smtClean="0">
                <a:latin typeface="+mn-lt"/>
              </a:rPr>
            </a:br>
            <a:r>
              <a:rPr lang="ru-RU" dirty="0">
                <a:latin typeface="+mn-lt"/>
              </a:rPr>
              <a:t/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/>
            </a:r>
            <a:br>
              <a:rPr lang="ru-RU" dirty="0">
                <a:latin typeface="+mn-lt"/>
              </a:rPr>
            </a:br>
            <a:endParaRPr lang="ru-RU" dirty="0">
              <a:latin typeface="+mn-lt"/>
            </a:endParaRPr>
          </a:p>
        </p:txBody>
      </p:sp>
      <p:sp>
        <p:nvSpPr>
          <p:cNvPr id="695" name="Google Shape;695;p25"/>
          <p:cNvSpPr txBox="1">
            <a:spLocks noGrp="1"/>
          </p:cNvSpPr>
          <p:nvPr>
            <p:ph type="title"/>
          </p:nvPr>
        </p:nvSpPr>
        <p:spPr>
          <a:xfrm>
            <a:off x="1343460" y="999185"/>
            <a:ext cx="10305300" cy="763500"/>
          </a:xfrm>
          <a:prstGeom prst="rect">
            <a:avLst/>
          </a:prstGeom>
          <a:effectLst>
            <a:outerShdw blurRad="328613" dist="47625" dir="1050000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 smtClean="0">
                <a:latin typeface="Bahnschrift SemiBold" pitchFamily="34" charset="0"/>
              </a:rPr>
              <a:t>О программе:</a:t>
            </a:r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FEC0C688-AD70-468D-8C5B-B7FC821E23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6733" y="0"/>
            <a:ext cx="1440161" cy="105968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701" y="529844"/>
            <a:ext cx="2095500" cy="471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701" y="5241544"/>
            <a:ext cx="2083192" cy="144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"/>
          <p:cNvSpPr txBox="1">
            <a:spLocks noGrp="1"/>
          </p:cNvSpPr>
          <p:nvPr>
            <p:ph type="title"/>
          </p:nvPr>
        </p:nvSpPr>
        <p:spPr>
          <a:xfrm>
            <a:off x="1458666" y="712250"/>
            <a:ext cx="8270124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dirty="0" smtClean="0"/>
              <a:t>Интерфейс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FEC0C688-AD70-468D-8C5B-B7FC821E23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905" y="0"/>
            <a:ext cx="1440161" cy="1059688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Google Shape;694;p25"/>
          <p:cNvSpPr txBox="1">
            <a:spLocks noGrp="1"/>
          </p:cNvSpPr>
          <p:nvPr>
            <p:ph type="body" idx="1"/>
          </p:nvPr>
        </p:nvSpPr>
        <p:spPr>
          <a:xfrm>
            <a:off x="806522" y="1313933"/>
            <a:ext cx="4816550" cy="42301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/>
            <a:r>
              <a:rPr lang="ru-RU" sz="2000" dirty="0">
                <a:latin typeface="Arial" pitchFamily="34" charset="0"/>
                <a:cs typeface="Arial" pitchFamily="34" charset="0"/>
              </a:rPr>
              <a:t>Функционал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Добавление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и удаление объектов, показателей, категорий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Генерация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случайных данных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Построение </a:t>
            </a:r>
            <a:r>
              <a:rPr lang="ru-RU" b="0" dirty="0" err="1">
                <a:latin typeface="Arial" pitchFamily="34" charset="0"/>
                <a:cs typeface="Arial" pitchFamily="34" charset="0"/>
              </a:rPr>
              <a:t>остовного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 дерева и </a:t>
            </a:r>
            <a:r>
              <a:rPr lang="ru-RU" b="0" dirty="0" err="1">
                <a:latin typeface="Arial" pitchFamily="34" charset="0"/>
                <a:cs typeface="Arial" pitchFamily="34" charset="0"/>
              </a:rPr>
              <a:t>дендрограммы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en-US" b="0" dirty="0" smtClean="0">
                <a:latin typeface="Arial" pitchFamily="34" charset="0"/>
                <a:cs typeface="Arial" pitchFamily="34" charset="0"/>
              </a:rPr>
              <a:t>ML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 обучение и решения.</a:t>
            </a:r>
            <a:endParaRPr lang="ru-RU" b="0" dirty="0" smtClean="0">
              <a:latin typeface="Arial" pitchFamily="34" charset="0"/>
              <a:cs typeface="Arial" pitchFamily="34" charset="0"/>
            </a:endParaRP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Сохранение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и загрузка данных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.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107950" indent="0"/>
            <a:r>
              <a:rPr lang="ru-RU" dirty="0" smtClean="0">
                <a:latin typeface="Arial" pitchFamily="34" charset="0"/>
                <a:cs typeface="Arial" pitchFamily="34" charset="0"/>
              </a:rPr>
              <a:t>Интерфейс: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Удобный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графический интерфейс с прокруткой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и графики для наглядности.</a:t>
            </a:r>
            <a:r>
              <a:rPr lang="ru-RU" b="0" dirty="0" smtClean="0"/>
              <a:t/>
            </a:r>
            <a:br>
              <a:rPr lang="ru-RU" b="0" dirty="0" smtClean="0"/>
            </a:br>
            <a:r>
              <a:rPr lang="ru-RU" b="0" dirty="0" smtClean="0"/>
              <a:t/>
            </a:r>
            <a:br>
              <a:rPr lang="ru-RU" b="0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051" y="1729539"/>
            <a:ext cx="2361867" cy="261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51" y="4636375"/>
            <a:ext cx="6478551" cy="1489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"/>
          <p:cNvSpPr txBox="1">
            <a:spLocks noGrp="1"/>
          </p:cNvSpPr>
          <p:nvPr>
            <p:ph type="title"/>
          </p:nvPr>
        </p:nvSpPr>
        <p:spPr>
          <a:xfrm>
            <a:off x="1405502" y="910832"/>
            <a:ext cx="6377529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dirty="0" smtClean="0"/>
              <a:t>Перспективы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FEC0C688-AD70-468D-8C5B-B7FC821E23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375" y="0"/>
            <a:ext cx="1440161" cy="1059688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Google Shape;694;p25"/>
          <p:cNvSpPr txBox="1">
            <a:spLocks noGrp="1"/>
          </p:cNvSpPr>
          <p:nvPr>
            <p:ph type="body" idx="1"/>
          </p:nvPr>
        </p:nvSpPr>
        <p:spPr>
          <a:xfrm>
            <a:off x="6164845" y="1686072"/>
            <a:ext cx="5180096" cy="42301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/>
            <a:r>
              <a:rPr lang="ru-RU" dirty="0" smtClean="0">
                <a:latin typeface="Arial" pitchFamily="34" charset="0"/>
                <a:cs typeface="Arial" pitchFamily="34" charset="0"/>
              </a:rPr>
              <a:t>Доработки: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Добавление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новых методов кластеризации (например, k-</a:t>
            </a:r>
            <a:r>
              <a:rPr lang="ru-RU" b="0" dirty="0" err="1">
                <a:latin typeface="Arial" pitchFamily="34" charset="0"/>
                <a:cs typeface="Arial" pitchFamily="34" charset="0"/>
              </a:rPr>
              <a:t>means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Поддержка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большего количества форматов данных (CSV, </a:t>
            </a:r>
            <a:r>
              <a:rPr lang="ru-RU" b="0" dirty="0" err="1">
                <a:latin typeface="Arial" pitchFamily="34" charset="0"/>
                <a:cs typeface="Arial" pitchFamily="34" charset="0"/>
              </a:rPr>
              <a:t>Excel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Улучшение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интерфейса (темная тема, настройки шрифтов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marL="107950" indent="0"/>
            <a:r>
              <a:rPr lang="ru-RU" dirty="0">
                <a:latin typeface="Arial" pitchFamily="34" charset="0"/>
                <a:cs typeface="Arial" pitchFamily="34" charset="0"/>
              </a:rPr>
              <a:t/>
            </a:r>
            <a:br>
              <a:rPr lang="ru-RU" dirty="0">
                <a:latin typeface="Arial" pitchFamily="34" charset="0"/>
                <a:cs typeface="Arial" pitchFamily="34" charset="0"/>
              </a:rPr>
            </a:br>
            <a:r>
              <a:rPr lang="ru-RU" dirty="0" smtClean="0">
                <a:latin typeface="Arial" pitchFamily="34" charset="0"/>
                <a:cs typeface="Arial" pitchFamily="34" charset="0"/>
              </a:rPr>
              <a:t>Расширение </a:t>
            </a:r>
            <a:r>
              <a:rPr lang="ru-RU" dirty="0">
                <a:latin typeface="Arial" pitchFamily="34" charset="0"/>
                <a:cs typeface="Arial" pitchFamily="34" charset="0"/>
              </a:rPr>
              <a:t>функционала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Интеграция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с базами данных</a:t>
            </a:r>
            <a:r>
              <a:rPr lang="ru-RU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b="0" dirty="0" smtClean="0">
                <a:latin typeface="Arial" pitchFamily="34" charset="0"/>
                <a:cs typeface="Arial" pitchFamily="34" charset="0"/>
              </a:rPr>
              <a:t>Возможность </a:t>
            </a:r>
            <a:r>
              <a:rPr lang="ru-RU" b="0" dirty="0">
                <a:latin typeface="Arial" pitchFamily="34" charset="0"/>
                <a:cs typeface="Arial" pitchFamily="34" charset="0"/>
              </a:rPr>
              <a:t>редактирования данных прямо в таблице.</a:t>
            </a:r>
            <a:endParaRPr lang="ru-RU" b="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84" y="1998922"/>
            <a:ext cx="5375418" cy="3785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258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FEC0C688-AD70-468D-8C5B-B7FC821E23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905" y="0"/>
            <a:ext cx="1440161" cy="1059688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Google Shape;694;p25"/>
          <p:cNvSpPr txBox="1">
            <a:spLocks noGrp="1"/>
          </p:cNvSpPr>
          <p:nvPr>
            <p:ph type="body" idx="1"/>
          </p:nvPr>
        </p:nvSpPr>
        <p:spPr>
          <a:xfrm>
            <a:off x="7230444" y="1293344"/>
            <a:ext cx="3838963" cy="42301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/>
            <a:r>
              <a:rPr lang="ru-RU" sz="1800" dirty="0">
                <a:latin typeface="Arial" pitchFamily="34" charset="0"/>
                <a:cs typeface="Arial" pitchFamily="34" charset="0"/>
              </a:rPr>
              <a:t>Преимущества</a:t>
            </a:r>
            <a:r>
              <a:rPr lang="ru-RU" sz="18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393700" indent="-285750">
              <a:buFont typeface="Arial" pitchFamily="34" charset="0"/>
              <a:buChar char="•"/>
            </a:pP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Программа </a:t>
            </a:r>
            <a:r>
              <a:rPr lang="ru-RU" sz="1800" b="0" dirty="0">
                <a:latin typeface="Arial" pitchFamily="34" charset="0"/>
                <a:cs typeface="Arial" pitchFamily="34" charset="0"/>
              </a:rPr>
              <a:t>эффективно визуализирует связи между объектами</a:t>
            </a: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93700" indent="-285750">
              <a:buFont typeface="Arial" pitchFamily="34" charset="0"/>
              <a:buChar char="•"/>
            </a:pP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Гибкость </a:t>
            </a:r>
            <a:r>
              <a:rPr lang="ru-RU" sz="1800" b="0" dirty="0">
                <a:latin typeface="Arial" pitchFamily="34" charset="0"/>
                <a:cs typeface="Arial" pitchFamily="34" charset="0"/>
              </a:rPr>
              <a:t>в настройке метрик и категорий</a:t>
            </a: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93700" indent="-285750">
              <a:buFont typeface="Arial" pitchFamily="34" charset="0"/>
              <a:buChar char="•"/>
            </a:pP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Простота </a:t>
            </a:r>
            <a:r>
              <a:rPr lang="ru-RU" sz="1800" b="0" dirty="0">
                <a:latin typeface="Arial" pitchFamily="34" charset="0"/>
                <a:cs typeface="Arial" pitchFamily="34" charset="0"/>
              </a:rPr>
              <a:t>генерации отчетов</a:t>
            </a: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107950" indent="0"/>
            <a:endParaRPr lang="ru-RU" sz="1800" dirty="0">
              <a:latin typeface="Arial" pitchFamily="34" charset="0"/>
              <a:cs typeface="Arial" pitchFamily="34" charset="0"/>
            </a:endParaRPr>
          </a:p>
          <a:p>
            <a:pPr marL="107950" indent="0"/>
            <a:r>
              <a:rPr lang="ru-RU" sz="1800" dirty="0" smtClean="0">
                <a:latin typeface="Arial" pitchFamily="34" charset="0"/>
                <a:cs typeface="Arial" pitchFamily="34" charset="0"/>
              </a:rPr>
              <a:t>Ограничения:</a:t>
            </a:r>
          </a:p>
          <a:p>
            <a:pPr marL="393700" indent="-285750">
              <a:buFont typeface="Arial" pitchFamily="34" charset="0"/>
              <a:buChar char="•"/>
            </a:pP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Нет </a:t>
            </a:r>
            <a:r>
              <a:rPr lang="ru-RU" sz="1800" b="0" dirty="0">
                <a:latin typeface="Arial" pitchFamily="34" charset="0"/>
                <a:cs typeface="Arial" pitchFamily="34" charset="0"/>
              </a:rPr>
              <a:t>возможности редактировать данные в таблице</a:t>
            </a: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93700" indent="-285750">
              <a:buFont typeface="Arial" pitchFamily="34" charset="0"/>
              <a:buChar char="•"/>
            </a:pPr>
            <a:r>
              <a:rPr lang="ru-RU" sz="1800" b="0" dirty="0" smtClean="0">
                <a:latin typeface="Arial" pitchFamily="34" charset="0"/>
                <a:cs typeface="Arial" pitchFamily="34" charset="0"/>
              </a:rPr>
              <a:t>Отсутствует </a:t>
            </a:r>
            <a:r>
              <a:rPr lang="ru-RU" sz="1800" b="0" dirty="0">
                <a:latin typeface="Arial" pitchFamily="34" charset="0"/>
                <a:cs typeface="Arial" pitchFamily="34" charset="0"/>
              </a:rPr>
              <a:t>поддержка других методов анализа, кроме евклидовых расстояний.</a:t>
            </a:r>
            <a:endParaRPr lang="ru-RU" sz="1800" b="0" dirty="0"/>
          </a:p>
        </p:txBody>
      </p:sp>
      <p:sp>
        <p:nvSpPr>
          <p:cNvPr id="10" name="Google Shape;677;p24"/>
          <p:cNvSpPr txBox="1">
            <a:spLocks/>
          </p:cNvSpPr>
          <p:nvPr/>
        </p:nvSpPr>
        <p:spPr>
          <a:xfrm>
            <a:off x="138223" y="529844"/>
            <a:ext cx="6909390" cy="763500"/>
          </a:xfrm>
          <a:prstGeom prst="rect">
            <a:avLst/>
          </a:prstGeom>
          <a:noFill/>
          <a:ln>
            <a:noFill/>
          </a:ln>
          <a:effectLst>
            <a:outerShdw blurRad="271463" dist="47625" dir="10500000" algn="bl" rotWithShape="0">
              <a:schemeClr val="accent2"/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 sz="4000" b="1" i="0" u="none" strike="noStrike" cap="non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ctr"/>
            <a:r>
              <a:rPr lang="ru-RU" dirty="0" smtClean="0">
                <a:latin typeface="+mn-lt"/>
              </a:rPr>
              <a:t>Результаты</a:t>
            </a:r>
            <a:endParaRPr lang="ru-RU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6" y="1381286"/>
            <a:ext cx="6921038" cy="255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" y="4029739"/>
            <a:ext cx="6936057" cy="2519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496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FEC0C688-AD70-468D-8C5B-B7FC821E23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905" y="0"/>
            <a:ext cx="1440161" cy="1059688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Google Shape;677;p24"/>
          <p:cNvSpPr txBox="1">
            <a:spLocks/>
          </p:cNvSpPr>
          <p:nvPr/>
        </p:nvSpPr>
        <p:spPr>
          <a:xfrm>
            <a:off x="1190847" y="500708"/>
            <a:ext cx="9888279" cy="763500"/>
          </a:xfrm>
          <a:prstGeom prst="rect">
            <a:avLst/>
          </a:prstGeom>
          <a:noFill/>
          <a:ln>
            <a:noFill/>
          </a:ln>
          <a:effectLst>
            <a:outerShdw blurRad="271463" dist="47625" dir="10500000" algn="bl" rotWithShape="0">
              <a:schemeClr val="accent2"/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 sz="4000" b="1" i="0" u="none" strike="noStrike" cap="non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1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ctr"/>
            <a:r>
              <a:rPr lang="ru-RU" smtClean="0">
                <a:latin typeface="+mn-lt"/>
              </a:rPr>
              <a:t>Заключение</a:t>
            </a:r>
            <a:endParaRPr lang="ru-RU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Google Shape;694;p25"/>
          <p:cNvSpPr txBox="1">
            <a:spLocks noGrp="1"/>
          </p:cNvSpPr>
          <p:nvPr>
            <p:ph type="body" idx="1"/>
          </p:nvPr>
        </p:nvSpPr>
        <p:spPr>
          <a:xfrm>
            <a:off x="1077430" y="1721408"/>
            <a:ext cx="9470067" cy="36374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/>
            <a:r>
              <a:rPr lang="ru-RU" sz="2400" b="0" dirty="0">
                <a:latin typeface="Arial" pitchFamily="34" charset="0"/>
                <a:cs typeface="Arial" pitchFamily="34" charset="0"/>
              </a:rPr>
              <a:t>Программа полностью функциональна, но требует доработок для расширения </a:t>
            </a:r>
            <a:r>
              <a:rPr lang="ru-RU" sz="2400" b="0" dirty="0" smtClean="0">
                <a:latin typeface="Arial" pitchFamily="34" charset="0"/>
                <a:cs typeface="Arial" pitchFamily="34" charset="0"/>
              </a:rPr>
              <a:t>возможностей.</a:t>
            </a:r>
          </a:p>
          <a:p>
            <a:pPr marL="107950" indent="0"/>
            <a:r>
              <a:rPr lang="ru-RU" sz="2400" b="0" dirty="0" smtClean="0">
                <a:latin typeface="Arial" pitchFamily="34" charset="0"/>
                <a:cs typeface="Arial" pitchFamily="34" charset="0"/>
              </a:rPr>
              <a:t/>
            </a:r>
            <a:br>
              <a:rPr lang="ru-RU" sz="2400" b="0" dirty="0" smtClean="0">
                <a:latin typeface="Arial" pitchFamily="34" charset="0"/>
                <a:cs typeface="Arial" pitchFamily="34" charset="0"/>
              </a:rPr>
            </a:br>
            <a:r>
              <a:rPr lang="ru-RU" sz="2400" b="0" dirty="0" smtClean="0">
                <a:latin typeface="Arial" pitchFamily="34" charset="0"/>
                <a:cs typeface="Arial" pitchFamily="34" charset="0"/>
              </a:rPr>
              <a:t>Рекомендации: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sz="2400" b="0" dirty="0" smtClean="0">
                <a:latin typeface="Arial" pitchFamily="34" charset="0"/>
                <a:cs typeface="Arial" pitchFamily="34" charset="0"/>
              </a:rPr>
              <a:t>Добавить </a:t>
            </a:r>
            <a:r>
              <a:rPr lang="ru-RU" sz="2400" b="0" dirty="0">
                <a:latin typeface="Arial" pitchFamily="34" charset="0"/>
                <a:cs typeface="Arial" pitchFamily="34" charset="0"/>
              </a:rPr>
              <a:t>больше методов визуализации</a:t>
            </a:r>
            <a:r>
              <a:rPr lang="ru-RU" sz="2400" b="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sz="2400" b="0" dirty="0" smtClean="0">
                <a:latin typeface="Arial" pitchFamily="34" charset="0"/>
                <a:cs typeface="Arial" pitchFamily="34" charset="0"/>
              </a:rPr>
              <a:t>Улучшить </a:t>
            </a:r>
            <a:r>
              <a:rPr lang="ru-RU" sz="2400" b="0" dirty="0">
                <a:latin typeface="Arial" pitchFamily="34" charset="0"/>
                <a:cs typeface="Arial" pitchFamily="34" charset="0"/>
              </a:rPr>
              <a:t>обработку ошибок (например, при загрузке файлов</a:t>
            </a:r>
            <a:r>
              <a:rPr lang="ru-RU" sz="2400" b="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marL="450850" indent="-342900">
              <a:buFont typeface="Arial" pitchFamily="34" charset="0"/>
              <a:buChar char="•"/>
            </a:pPr>
            <a:r>
              <a:rPr lang="ru-RU" sz="2400" b="0" dirty="0" smtClean="0">
                <a:latin typeface="Arial" pitchFamily="34" charset="0"/>
                <a:cs typeface="Arial" pitchFamily="34" charset="0"/>
              </a:rPr>
              <a:t>Оптимизировать </a:t>
            </a:r>
            <a:r>
              <a:rPr lang="ru-RU" sz="2400" b="0" dirty="0">
                <a:latin typeface="Arial" pitchFamily="34" charset="0"/>
                <a:cs typeface="Arial" pitchFamily="34" charset="0"/>
              </a:rPr>
              <a:t>код для работы с большими объемами данных.</a:t>
            </a:r>
            <a:endParaRPr lang="ru-RU" sz="2400" b="0" dirty="0"/>
          </a:p>
        </p:txBody>
      </p:sp>
    </p:spTree>
    <p:extLst>
      <p:ext uri="{BB962C8B-B14F-4D97-AF65-F5344CB8AC3E}">
        <p14:creationId xmlns:p14="http://schemas.microsoft.com/office/powerpoint/2010/main" val="395194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EEEEEE"/>
      </a:lt2>
      <a:accent1>
        <a:srgbClr val="E653BA"/>
      </a:accent1>
      <a:accent2>
        <a:srgbClr val="15D5FA"/>
      </a:accent2>
      <a:accent3>
        <a:srgbClr val="001B65"/>
      </a:accent3>
      <a:accent4>
        <a:srgbClr val="00092D"/>
      </a:accent4>
      <a:accent5>
        <a:srgbClr val="444444"/>
      </a:accent5>
      <a:accent6>
        <a:srgbClr val="0000FF"/>
      </a:accent6>
      <a:hlink>
        <a:srgbClr val="15D5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159</Words>
  <Application>Microsoft Office PowerPoint</Application>
  <PresentationFormat>Произвольный</PresentationFormat>
  <Paragraphs>41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Arial</vt:lpstr>
      <vt:lpstr>IBM Plex Mono</vt:lpstr>
      <vt:lpstr>Abril Fatface</vt:lpstr>
      <vt:lpstr>IBM Plex Mono Medium</vt:lpstr>
      <vt:lpstr>Aldrich</vt:lpstr>
      <vt:lpstr>Bahnschrift SemiBold</vt:lpstr>
      <vt:lpstr>Barlow Condensed</vt:lpstr>
      <vt:lpstr>SlidesMania</vt:lpstr>
      <vt:lpstr>Интеллектуальная система поддержки принятия решений в организационных системах</vt:lpstr>
      <vt:lpstr>О программе:</vt:lpstr>
      <vt:lpstr>Интерфейс</vt:lpstr>
      <vt:lpstr>Перспективы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SHOW Case инди-студия разработки мобильных игр</dc:title>
  <dc:creator>user</dc:creator>
  <cp:lastModifiedBy>user</cp:lastModifiedBy>
  <cp:revision>129</cp:revision>
  <dcterms:modified xsi:type="dcterms:W3CDTF">2026-06-06T12:56:17Z</dcterms:modified>
</cp:coreProperties>
</file>